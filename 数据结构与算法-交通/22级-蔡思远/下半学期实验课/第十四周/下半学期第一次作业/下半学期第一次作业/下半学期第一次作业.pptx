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478" r:id="rId4"/>
    <p:sldId id="475" r:id="rId5"/>
    <p:sldId id="477" r:id="rId7"/>
    <p:sldId id="476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600C86-09E5-4A2A-B0B4-089BBCDFB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DC965E-270A-40DB-A0A7-FD4A384A60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3DE4F9-9845-4C18-A22C-A8317E01EC94}" type="slidenum">
              <a:rPr lang="x-none" altLang="en-US" smtClean="0"/>
            </a:fld>
            <a:endParaRPr lang="x-none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A3FF-871B-4FD2-BF2F-0766CD3CB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D7A7-C49B-40AB-BA6B-B25A604629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A3FF-871B-4FD2-BF2F-0766CD3CB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D7A7-C49B-40AB-BA6B-B25A604629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A3FF-871B-4FD2-BF2F-0766CD3CB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D7A7-C49B-40AB-BA6B-B25A604629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A3FF-871B-4FD2-BF2F-0766CD3CB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D7A7-C49B-40AB-BA6B-B25A604629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A3FF-871B-4FD2-BF2F-0766CD3CB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D7A7-C49B-40AB-BA6B-B25A604629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A3FF-871B-4FD2-BF2F-0766CD3CB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D7A7-C49B-40AB-BA6B-B25A604629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A3FF-871B-4FD2-BF2F-0766CD3CB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D7A7-C49B-40AB-BA6B-B25A604629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A3FF-871B-4FD2-BF2F-0766CD3CB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D7A7-C49B-40AB-BA6B-B25A604629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A3FF-871B-4FD2-BF2F-0766CD3CB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D7A7-C49B-40AB-BA6B-B25A604629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A3FF-871B-4FD2-BF2F-0766CD3CB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D7A7-C49B-40AB-BA6B-B25A604629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2A3FF-871B-4FD2-BF2F-0766CD3CB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5D7A7-C49B-40AB-BA6B-B25A604629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2A3FF-871B-4FD2-BF2F-0766CD3CB9E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5D7A7-C49B-40AB-BA6B-B25A6046294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13235" y="2035250"/>
            <a:ext cx="55655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dirty="0"/>
              <a:t>Homework</a:t>
            </a:r>
            <a:endParaRPr lang="zh-CN" altLang="en-US" sz="8000" dirty="0"/>
          </a:p>
        </p:txBody>
      </p:sp>
      <p:sp>
        <p:nvSpPr>
          <p:cNvPr id="6" name="文本框 5"/>
          <p:cNvSpPr txBox="1"/>
          <p:nvPr/>
        </p:nvSpPr>
        <p:spPr>
          <a:xfrm>
            <a:off x="3903784" y="3859796"/>
            <a:ext cx="4519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中山大学智工学院 数据结构与算法 </a:t>
            </a:r>
            <a:r>
              <a:rPr lang="en-US" altLang="zh-CN" dirty="0"/>
              <a:t>2023</a:t>
            </a:r>
            <a:r>
              <a:rPr lang="zh-CN" altLang="en-US" dirty="0"/>
              <a:t>秋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29762" y="729762"/>
            <a:ext cx="2022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作业提交要求：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40876" y="1951893"/>
            <a:ext cx="81768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、请各位同学对于程序代码的命名要按照题目后面命名的格式来，如</a:t>
            </a:r>
            <a:r>
              <a:rPr lang="en-US" altLang="zh-CN" dirty="0"/>
              <a:t>spanforest.cpp</a:t>
            </a:r>
            <a:r>
              <a:rPr lang="zh-CN" altLang="en-US" dirty="0"/>
              <a:t>、</a:t>
            </a:r>
            <a:r>
              <a:rPr lang="en-US" altLang="zh-CN" dirty="0"/>
              <a:t> Kruskal.cpp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、提交的作业代码要按照题目中给出的输入输出格式，格式不对的可能导致测试结果出错进而影响批改结果，文件里会给出每道题的部分测试数据以供调试；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、把三个作业代码放进一个文件里，并按照“</a:t>
            </a:r>
            <a:r>
              <a:rPr lang="zh-CN" altLang="en-US" b="1" dirty="0"/>
              <a:t>学号</a:t>
            </a:r>
            <a:r>
              <a:rPr lang="en-US" altLang="zh-CN" b="1" dirty="0"/>
              <a:t>-</a:t>
            </a:r>
            <a:r>
              <a:rPr lang="zh-CN" altLang="en-US" b="1" dirty="0"/>
              <a:t>姓名</a:t>
            </a:r>
            <a:r>
              <a:rPr lang="en-US" altLang="zh-CN" b="1" dirty="0"/>
              <a:t>-</a:t>
            </a:r>
            <a:r>
              <a:rPr lang="zh-CN" altLang="en-US" b="1" dirty="0"/>
              <a:t>数据结构与算法作业</a:t>
            </a:r>
            <a:r>
              <a:rPr lang="zh-CN" altLang="en-US" dirty="0"/>
              <a:t>”格式命名。作业提交邮箱：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70C0"/>
                </a:solidFill>
              </a:rPr>
              <a:t>chenhw28@mail2.sysu.edu.cn </a:t>
            </a:r>
            <a:r>
              <a:rPr lang="zh-CN" altLang="en-US" dirty="0"/>
              <a:t>，截止时间</a:t>
            </a:r>
            <a:r>
              <a:rPr lang="zh-CN" altLang="en-US" dirty="0">
                <a:solidFill>
                  <a:srgbClr val="FF0000"/>
                </a:solidFill>
              </a:rPr>
              <a:t>下周六（</a:t>
            </a:r>
            <a:r>
              <a:rPr lang="en-US" altLang="zh-CN" dirty="0">
                <a:solidFill>
                  <a:srgbClr val="FF0000"/>
                </a:solidFill>
              </a:rPr>
              <a:t>12</a:t>
            </a:r>
            <a:r>
              <a:rPr lang="zh-CN" altLang="en-US" dirty="0">
                <a:solidFill>
                  <a:srgbClr val="FF0000"/>
                </a:solidFill>
              </a:rPr>
              <a:t>月</a:t>
            </a:r>
            <a:r>
              <a:rPr lang="en-US" altLang="zh-CN" dirty="0">
                <a:solidFill>
                  <a:srgbClr val="FF0000"/>
                </a:solidFill>
              </a:rPr>
              <a:t>9</a:t>
            </a:r>
            <a:r>
              <a:rPr lang="zh-CN" altLang="en-US" dirty="0">
                <a:solidFill>
                  <a:srgbClr val="FF0000"/>
                </a:solidFill>
              </a:rPr>
              <a:t>日）</a:t>
            </a:r>
            <a:r>
              <a:rPr lang="en-US" altLang="zh-CN" dirty="0">
                <a:solidFill>
                  <a:srgbClr val="FF0000"/>
                </a:solidFill>
              </a:rPr>
              <a:t>23:59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60130" y="189279"/>
            <a:ext cx="10978663" cy="1325563"/>
          </a:xfrm>
        </p:spPr>
        <p:txBody>
          <a:bodyPr/>
          <a:lstStyle/>
          <a:p>
            <a:r>
              <a:rPr lang="en-US" altLang="zh-CN" dirty="0"/>
              <a:t>Homework 1 	</a:t>
            </a:r>
            <a:r>
              <a:rPr lang="zh-CN" altLang="en-US" dirty="0"/>
              <a:t>寻找生成森林</a:t>
            </a:r>
            <a:r>
              <a:rPr lang="en-US" altLang="zh-CN" dirty="0"/>
              <a:t>(spanforest.cpp)</a:t>
            </a:r>
            <a:endParaRPr lang="x-none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688319"/>
            <a:ext cx="6468208" cy="444871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1" dirty="0"/>
              <a:t>问题描述</a:t>
            </a:r>
            <a:r>
              <a:rPr lang="zh-CN" altLang="en-US" dirty="0"/>
              <a:t>：用</a:t>
            </a:r>
            <a:r>
              <a:rPr lang="zh-CN" altLang="en-US" b="1" dirty="0"/>
              <a:t>邻接表形式</a:t>
            </a:r>
            <a:r>
              <a:rPr lang="zh-CN" altLang="en-US" dirty="0"/>
              <a:t>给定一个图</a:t>
            </a:r>
            <a:r>
              <a:rPr lang="en-US" altLang="zh-CN" dirty="0"/>
              <a:t>G</a:t>
            </a:r>
            <a:r>
              <a:rPr lang="zh-CN" altLang="en-US" dirty="0"/>
              <a:t>，输出它的一个生成森林</a:t>
            </a:r>
            <a:r>
              <a:rPr lang="en-US" altLang="zh-CN" dirty="0"/>
              <a:t>F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/>
              <a:t>输入格式</a:t>
            </a:r>
            <a:r>
              <a:rPr lang="zh-CN" altLang="en-US" dirty="0"/>
              <a:t>：第一行为</a:t>
            </a:r>
            <a:r>
              <a:rPr lang="en-US" altLang="zh-CN" dirty="0"/>
              <a:t>n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表示</a:t>
            </a:r>
            <a:r>
              <a:rPr lang="en-US" altLang="zh-CN" dirty="0"/>
              <a:t>G</a:t>
            </a:r>
            <a:r>
              <a:rPr lang="zh-CN" altLang="en-US" dirty="0"/>
              <a:t>的顶点数，</a:t>
            </a:r>
            <a:r>
              <a:rPr lang="en-US" altLang="zh-CN" dirty="0"/>
              <a:t> 1&lt;=</a:t>
            </a:r>
            <a:r>
              <a:rPr lang="en-US" altLang="zh-CN"/>
              <a:t>n&lt;=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en-US" altLang="zh-CN">
                <a:solidFill>
                  <a:srgbClr val="FF0000"/>
                </a:solidFill>
              </a:rPr>
              <a:t>000</a:t>
            </a:r>
            <a:r>
              <a:rPr lang="en-US" altLang="zh-CN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接下来</a:t>
            </a:r>
            <a:r>
              <a:rPr lang="en-US" altLang="zh-CN" dirty="0"/>
              <a:t>n</a:t>
            </a:r>
            <a:r>
              <a:rPr lang="zh-CN" altLang="en-US" dirty="0"/>
              <a:t>行的第</a:t>
            </a:r>
            <a:r>
              <a:rPr lang="en-US" altLang="zh-CN" dirty="0" err="1"/>
              <a:t>i</a:t>
            </a:r>
            <a:r>
              <a:rPr lang="zh-CN" altLang="en-US" dirty="0"/>
              <a:t>行</a:t>
            </a:r>
            <a:r>
              <a:rPr lang="en-US" altLang="zh-CN" dirty="0"/>
              <a:t>(1&lt;=</a:t>
            </a:r>
            <a:r>
              <a:rPr lang="en-US" altLang="zh-CN" dirty="0" err="1"/>
              <a:t>i</a:t>
            </a:r>
            <a:r>
              <a:rPr lang="en-US" altLang="zh-CN" dirty="0"/>
              <a:t>&lt;=n)</a:t>
            </a:r>
            <a:r>
              <a:rPr lang="zh-CN" altLang="en-US" dirty="0"/>
              <a:t>格式如下</a:t>
            </a:r>
            <a:endParaRPr lang="en-US" altLang="zh-CN" dirty="0"/>
          </a:p>
          <a:p>
            <a:pPr lvl="2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个数为</a:t>
            </a:r>
            <a:r>
              <a:rPr lang="en-US" altLang="zh-CN" dirty="0"/>
              <a:t>d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后面紧跟着</a:t>
            </a:r>
            <a:r>
              <a:rPr lang="en-US" altLang="zh-CN" dirty="0"/>
              <a:t>d</a:t>
            </a:r>
            <a:r>
              <a:rPr lang="zh-CN" altLang="en-US" dirty="0"/>
              <a:t>个</a:t>
            </a:r>
            <a:r>
              <a:rPr lang="zh-CN" altLang="en-US" b="1" dirty="0"/>
              <a:t>不同</a:t>
            </a:r>
            <a:r>
              <a:rPr lang="zh-CN" altLang="en-US" dirty="0"/>
              <a:t>的数</a:t>
            </a:r>
            <a:r>
              <a:rPr lang="en-US" altLang="zh-CN" dirty="0"/>
              <a:t>a</a:t>
            </a:r>
            <a:r>
              <a:rPr lang="en-US" altLang="zh-CN" baseline="-25000" dirty="0"/>
              <a:t>1</a:t>
            </a:r>
            <a:r>
              <a:rPr lang="en-US" altLang="zh-CN" dirty="0"/>
              <a:t>,…a</a:t>
            </a:r>
            <a:r>
              <a:rPr lang="en-US" altLang="zh-CN" baseline="-25000" dirty="0"/>
              <a:t>d</a:t>
            </a:r>
            <a:r>
              <a:rPr lang="zh-CN" altLang="en-US" dirty="0"/>
              <a:t>，</a:t>
            </a:r>
            <a:br>
              <a:rPr lang="en-US" altLang="zh-CN" dirty="0"/>
            </a:br>
            <a:r>
              <a:rPr lang="en-US" altLang="zh-CN" dirty="0"/>
              <a:t>  </a:t>
            </a:r>
            <a:r>
              <a:rPr lang="zh-CN" altLang="en-US" dirty="0"/>
              <a:t>它们表示与</a:t>
            </a:r>
            <a:r>
              <a:rPr lang="en-US" altLang="zh-CN" dirty="0" err="1"/>
              <a:t>i</a:t>
            </a:r>
            <a:r>
              <a:rPr lang="zh-CN" altLang="en-US" dirty="0"/>
              <a:t>相邻的</a:t>
            </a:r>
            <a:r>
              <a:rPr lang="en-US" altLang="zh-CN" dirty="0"/>
              <a:t>d</a:t>
            </a:r>
            <a:r>
              <a:rPr lang="zh-CN" altLang="en-US" dirty="0"/>
              <a:t>个顶点的编号。</a:t>
            </a:r>
            <a:endParaRPr lang="en-US" altLang="zh-CN" dirty="0"/>
          </a:p>
          <a:p>
            <a:pPr lvl="1"/>
            <a:r>
              <a:rPr lang="zh-CN" altLang="en-US" dirty="0"/>
              <a:t>保证所有顶点的度数之和 </a:t>
            </a:r>
            <a:r>
              <a:rPr lang="en-US" altLang="zh-CN" dirty="0"/>
              <a:t>&lt;=</a:t>
            </a:r>
            <a:r>
              <a:rPr lang="en-US" altLang="zh-CN" dirty="0">
                <a:solidFill>
                  <a:srgbClr val="FF0000"/>
                </a:solidFill>
              </a:rPr>
              <a:t>200000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b="1" dirty="0"/>
              <a:t>输出格式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行输出整数</a:t>
            </a:r>
            <a:r>
              <a:rPr lang="en-US" altLang="zh-CN" dirty="0"/>
              <a:t>f</a:t>
            </a:r>
            <a:r>
              <a:rPr lang="zh-CN" altLang="en-US" dirty="0"/>
              <a:t>，表示生成森林</a:t>
            </a:r>
            <a:r>
              <a:rPr lang="en-US" altLang="zh-CN" dirty="0"/>
              <a:t>F</a:t>
            </a:r>
            <a:r>
              <a:rPr lang="zh-CN" altLang="en-US" dirty="0"/>
              <a:t>中的边数。</a:t>
            </a:r>
            <a:endParaRPr lang="en-US" altLang="zh-CN" dirty="0"/>
          </a:p>
          <a:p>
            <a:pPr lvl="1"/>
            <a:r>
              <a:rPr lang="zh-CN" altLang="en-US" dirty="0"/>
              <a:t>接下来</a:t>
            </a:r>
            <a:r>
              <a:rPr lang="en-US" altLang="zh-CN" dirty="0"/>
              <a:t>n</a:t>
            </a:r>
            <a:r>
              <a:rPr lang="zh-CN" altLang="en-US" dirty="0"/>
              <a:t>行与输入的</a:t>
            </a:r>
            <a:r>
              <a:rPr lang="en-US" altLang="zh-CN" dirty="0"/>
              <a:t>n</a:t>
            </a:r>
            <a:r>
              <a:rPr lang="zh-CN" altLang="en-US" dirty="0"/>
              <a:t>行对应（但是</a:t>
            </a:r>
            <a:r>
              <a:rPr lang="en-US" altLang="zh-CN" dirty="0"/>
              <a:t>d</a:t>
            </a:r>
            <a:r>
              <a:rPr lang="zh-CN" altLang="en-US" dirty="0"/>
              <a:t>之后跟着的数为</a:t>
            </a:r>
            <a:r>
              <a:rPr lang="en-US" altLang="zh-CN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,…b</a:t>
            </a:r>
            <a:r>
              <a:rPr lang="en-US" altLang="zh-CN" baseline="-25000" dirty="0"/>
              <a:t>d</a:t>
            </a:r>
            <a:r>
              <a:rPr lang="zh-CN" altLang="en-US" dirty="0"/>
              <a:t>，</a:t>
            </a:r>
            <a:r>
              <a:rPr lang="en-US" altLang="zh-CN" dirty="0" err="1"/>
              <a:t>b</a:t>
            </a:r>
            <a:r>
              <a:rPr lang="en-US" altLang="zh-CN" baseline="-25000" dirty="0" err="1"/>
              <a:t>j</a:t>
            </a:r>
            <a:r>
              <a:rPr lang="en-US" altLang="zh-CN" dirty="0"/>
              <a:t>=1</a:t>
            </a:r>
            <a:r>
              <a:rPr lang="zh-CN" altLang="en-US" dirty="0"/>
              <a:t>表示选边</a:t>
            </a:r>
            <a:r>
              <a:rPr lang="en-US" altLang="zh-CN" dirty="0"/>
              <a:t>(</a:t>
            </a:r>
            <a:r>
              <a:rPr lang="en-US" altLang="zh-CN" dirty="0" err="1"/>
              <a:t>i,a</a:t>
            </a:r>
            <a:r>
              <a:rPr lang="en-US" altLang="zh-CN" baseline="-25000" dirty="0" err="1"/>
              <a:t>j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  <a:r>
              <a:rPr lang="zh-CN" altLang="en-US" dirty="0"/>
              <a:t>表示不选）</a:t>
            </a:r>
            <a:endParaRPr lang="en-US" altLang="zh-CN" dirty="0"/>
          </a:p>
        </p:txBody>
      </p:sp>
      <p:sp>
        <p:nvSpPr>
          <p:cNvPr id="6" name="矩形 5"/>
          <p:cNvSpPr/>
          <p:nvPr/>
        </p:nvSpPr>
        <p:spPr>
          <a:xfrm>
            <a:off x="7954107" y="1785033"/>
            <a:ext cx="228893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样例输入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r>
              <a:rPr lang="en-US" altLang="zh-CN" sz="2800" dirty="0"/>
              <a:t>5</a:t>
            </a:r>
            <a:endParaRPr lang="en-US" altLang="zh-CN" sz="2800" dirty="0"/>
          </a:p>
          <a:p>
            <a:r>
              <a:rPr lang="en-US" altLang="zh-CN" sz="2800" dirty="0"/>
              <a:t>2 2 3</a:t>
            </a:r>
            <a:endParaRPr lang="en-US" altLang="zh-CN" sz="2800" dirty="0"/>
          </a:p>
          <a:p>
            <a:r>
              <a:rPr lang="en-US" altLang="zh-CN" sz="2800" dirty="0"/>
              <a:t>2 1 3</a:t>
            </a:r>
            <a:endParaRPr lang="en-US" altLang="zh-CN" sz="2800" dirty="0"/>
          </a:p>
          <a:p>
            <a:r>
              <a:rPr lang="en-US" altLang="zh-CN" sz="2800" dirty="0"/>
              <a:t>2 1 2</a:t>
            </a:r>
            <a:endParaRPr lang="en-US" altLang="zh-CN" sz="2800" dirty="0"/>
          </a:p>
          <a:p>
            <a:r>
              <a:rPr lang="en-US" altLang="zh-CN" sz="2800" dirty="0"/>
              <a:t>1 5</a:t>
            </a:r>
            <a:endParaRPr lang="en-US" altLang="zh-CN" sz="2800" dirty="0"/>
          </a:p>
          <a:p>
            <a:r>
              <a:rPr lang="en-US" altLang="zh-CN" sz="2800" dirty="0"/>
              <a:t>1 4</a:t>
            </a:r>
            <a:endParaRPr lang="en-US" altLang="zh-CN" sz="2800" dirty="0"/>
          </a:p>
        </p:txBody>
      </p:sp>
      <p:sp>
        <p:nvSpPr>
          <p:cNvPr id="7" name="矩形 6"/>
          <p:cNvSpPr/>
          <p:nvPr/>
        </p:nvSpPr>
        <p:spPr>
          <a:xfrm>
            <a:off x="9440007" y="2963203"/>
            <a:ext cx="2288931" cy="3107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样例输出</a:t>
            </a:r>
            <a:r>
              <a:rPr lang="zh-CN" altLang="en-US" sz="2800" dirty="0"/>
              <a:t>：</a:t>
            </a:r>
            <a:endParaRPr lang="en-US" altLang="zh-CN" sz="2800" dirty="0"/>
          </a:p>
          <a:p>
            <a:r>
              <a:rPr lang="en-US" altLang="zh-CN" sz="2800" dirty="0"/>
              <a:t>3</a:t>
            </a:r>
            <a:endParaRPr lang="en-US" altLang="zh-CN" sz="2800" dirty="0"/>
          </a:p>
          <a:p>
            <a:r>
              <a:rPr lang="en-US" altLang="zh-CN" sz="2800" dirty="0"/>
              <a:t>2 1 0</a:t>
            </a:r>
            <a:endParaRPr lang="en-US" altLang="zh-CN" sz="2800" dirty="0"/>
          </a:p>
          <a:p>
            <a:r>
              <a:rPr lang="en-US" altLang="zh-CN" sz="2800" dirty="0"/>
              <a:t>2 1 1</a:t>
            </a:r>
            <a:endParaRPr lang="en-US" altLang="zh-CN" sz="2800" dirty="0"/>
          </a:p>
          <a:p>
            <a:r>
              <a:rPr lang="en-US" altLang="zh-CN" sz="2800" dirty="0"/>
              <a:t>2 0 1</a:t>
            </a:r>
            <a:endParaRPr lang="en-US" altLang="zh-CN" sz="2800" dirty="0"/>
          </a:p>
          <a:p>
            <a:r>
              <a:rPr lang="en-US" altLang="zh-CN" sz="2800" dirty="0"/>
              <a:t>1 1</a:t>
            </a:r>
            <a:endParaRPr lang="en-US" altLang="zh-CN" sz="2800" dirty="0"/>
          </a:p>
          <a:p>
            <a:r>
              <a:rPr lang="en-US" altLang="zh-CN" sz="2800" dirty="0"/>
              <a:t>1 1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7893" y="280208"/>
            <a:ext cx="11538438" cy="1325563"/>
          </a:xfrm>
        </p:spPr>
        <p:txBody>
          <a:bodyPr/>
          <a:lstStyle/>
          <a:p>
            <a:r>
              <a:rPr lang="en-US" altLang="zh-CN" dirty="0"/>
              <a:t>Homework</a:t>
            </a:r>
            <a:r>
              <a:rPr lang="en-US" altLang="en-US" dirty="0"/>
              <a:t> 2 </a:t>
            </a:r>
            <a:r>
              <a:rPr lang="zh-CN" altLang="en-US" dirty="0"/>
              <a:t>生成树的</a:t>
            </a:r>
            <a:r>
              <a:rPr lang="en-US" altLang="zh-CN" dirty="0"/>
              <a:t>Kruskal</a:t>
            </a:r>
            <a:r>
              <a:rPr lang="zh-CN" altLang="en-US" dirty="0"/>
              <a:t>算法</a:t>
            </a:r>
            <a:r>
              <a:rPr lang="en-US" altLang="zh-CN" dirty="0"/>
              <a:t>(Kruskal.cpp)</a:t>
            </a:r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输入具有</a:t>
            </a:r>
            <a:r>
              <a:rPr lang="en-US" altLang="zh-CN" dirty="0"/>
              <a:t>n </a:t>
            </a:r>
            <a:r>
              <a:rPr lang="zh-CN" altLang="en-US" dirty="0"/>
              <a:t>个顶点</a:t>
            </a:r>
            <a:r>
              <a:rPr lang="en-US" altLang="zh-CN" dirty="0"/>
              <a:t>m</a:t>
            </a:r>
            <a:r>
              <a:rPr lang="zh-CN" altLang="en-US" dirty="0"/>
              <a:t>条边的无向图</a:t>
            </a:r>
            <a:r>
              <a:rPr lang="en-US" altLang="zh-CN" dirty="0"/>
              <a:t>G</a:t>
            </a:r>
            <a:r>
              <a:rPr lang="zh-CN" altLang="en-US" dirty="0"/>
              <a:t> （顶点从</a:t>
            </a:r>
            <a:r>
              <a:rPr lang="en-US" altLang="zh-CN" dirty="0"/>
              <a:t>1~n </a:t>
            </a:r>
            <a:r>
              <a:rPr lang="zh-CN" altLang="en-US" dirty="0"/>
              <a:t>编号）。</a:t>
            </a:r>
            <a:br>
              <a:rPr lang="en-US" altLang="zh-CN" dirty="0"/>
            </a:br>
            <a:r>
              <a:rPr lang="zh-CN" altLang="en-US" dirty="0"/>
              <a:t>请用</a:t>
            </a:r>
            <a:r>
              <a:rPr lang="en-US" altLang="zh-CN" b="1" dirty="0"/>
              <a:t>Kruskal</a:t>
            </a:r>
            <a:r>
              <a:rPr lang="zh-CN" altLang="en-US" b="1" dirty="0"/>
              <a:t>算法</a:t>
            </a:r>
            <a:r>
              <a:rPr lang="zh-CN" altLang="en-US" dirty="0"/>
              <a:t>求出</a:t>
            </a:r>
            <a:r>
              <a:rPr lang="en-US" altLang="zh-CN" dirty="0"/>
              <a:t>G</a:t>
            </a:r>
            <a:r>
              <a:rPr lang="zh-CN" altLang="en-US" dirty="0"/>
              <a:t>的最小生成树 </a:t>
            </a:r>
            <a:r>
              <a:rPr lang="en-US" altLang="zh-CN" dirty="0"/>
              <a:t>(minimum spanning tree)</a:t>
            </a:r>
            <a:endParaRPr lang="en-US" altLang="zh-CN" dirty="0"/>
          </a:p>
          <a:p>
            <a:pPr lvl="1"/>
            <a:r>
              <a:rPr lang="zh-CN" altLang="en-US" dirty="0"/>
              <a:t>保证：</a:t>
            </a:r>
            <a:r>
              <a:rPr lang="en-US" altLang="en-US" dirty="0">
                <a:solidFill>
                  <a:srgbClr val="FF0000"/>
                </a:solidFill>
              </a:rPr>
              <a:t>n&lt;=100000. m&lt;=500000</a:t>
            </a:r>
            <a:r>
              <a:rPr lang="en-US" altLang="en-US" dirty="0"/>
              <a:t>。 </a:t>
            </a:r>
            <a:r>
              <a:rPr lang="en-US" altLang="zh-CN" dirty="0"/>
              <a:t>G </a:t>
            </a:r>
            <a:r>
              <a:rPr lang="zh-CN" altLang="en-US" dirty="0"/>
              <a:t>连通且任意两点间最多只有一条边。</a:t>
            </a:r>
            <a:br>
              <a:rPr lang="en-US" altLang="zh-CN" dirty="0"/>
            </a:br>
            <a:r>
              <a:rPr lang="zh-CN" altLang="en-US" dirty="0"/>
              <a:t>要求：使用课件</a:t>
            </a:r>
            <a:r>
              <a:rPr lang="en-US" altLang="zh-CN" dirty="0"/>
              <a:t>ppt</a:t>
            </a:r>
            <a:r>
              <a:rPr lang="zh-CN" altLang="en-US" dirty="0"/>
              <a:t>里</a:t>
            </a:r>
            <a:r>
              <a:rPr lang="en-US" altLang="zh-CN" dirty="0"/>
              <a:t>p37-p38</a:t>
            </a:r>
            <a:r>
              <a:rPr lang="zh-CN" altLang="en-US" dirty="0"/>
              <a:t>的方法实现（注意不要使用并查集）。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输入格式：</a:t>
            </a:r>
            <a:endParaRPr lang="en-US" altLang="zh-CN" dirty="0"/>
          </a:p>
          <a:p>
            <a:pPr marL="0" indent="0">
              <a:buNone/>
            </a:pPr>
            <a:r>
              <a:rPr lang="en-US" altLang="en-US" dirty="0"/>
              <a:t>n m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a[1] b[1] c[1]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...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a[m] b[m] c[m]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矩形 3"/>
          <p:cNvSpPr/>
          <p:nvPr/>
        </p:nvSpPr>
        <p:spPr>
          <a:xfrm>
            <a:off x="3390229" y="4990170"/>
            <a:ext cx="333521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说明： 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a[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 b[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 c[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表示</a:t>
            </a:r>
            <a:b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有一条边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a[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],b[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])，</a:t>
            </a:r>
            <a:endParaRPr lang="en-US" alt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它的费用为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c[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]。</a:t>
            </a:r>
            <a:endParaRPr lang="en-US" alt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保证  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a[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 != b[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]。</a:t>
            </a:r>
            <a:endParaRPr lang="en-US" alt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en-US" sz="2000" dirty="0">
                <a:solidFill>
                  <a:srgbClr val="FF0000"/>
                </a:solidFill>
              </a:rPr>
              <a:t>  1&lt;=c[</a:t>
            </a:r>
            <a:r>
              <a:rPr lang="en-US" altLang="en-US" sz="2000" dirty="0" err="1">
                <a:solidFill>
                  <a:srgbClr val="FF0000"/>
                </a:solidFill>
              </a:rPr>
              <a:t>i</a:t>
            </a:r>
            <a:r>
              <a:rPr lang="en-US" altLang="en-US" sz="2000" dirty="0">
                <a:solidFill>
                  <a:srgbClr val="FF0000"/>
                </a:solidFill>
              </a:rPr>
              <a:t>]&lt;=10000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29354" y="3436881"/>
            <a:ext cx="333521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输出格式：</a:t>
            </a:r>
            <a:endParaRPr lang="en-US" altLang="zh-CN" sz="2800" dirty="0"/>
          </a:p>
          <a:p>
            <a:r>
              <a:rPr lang="en-US" altLang="en-US" sz="2800" dirty="0"/>
              <a:t>1</a:t>
            </a:r>
            <a:r>
              <a:rPr lang="zh-CN" altLang="en-US" sz="2800" dirty="0"/>
              <a:t>个整数，表示</a:t>
            </a:r>
            <a:br>
              <a:rPr lang="en-US" altLang="zh-CN" sz="2800" dirty="0"/>
            </a:br>
            <a:r>
              <a:rPr lang="zh-CN" altLang="en-US" sz="2800" dirty="0"/>
              <a:t>最小生成树的费用</a:t>
            </a:r>
            <a:endParaRPr lang="en-US" alt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6503376" y="3349760"/>
            <a:ext cx="148883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输入样例：</a:t>
            </a:r>
            <a:endParaRPr lang="en-US" altLang="zh-CN" dirty="0"/>
          </a:p>
          <a:p>
            <a:r>
              <a:rPr lang="en-US" altLang="en-US" dirty="0"/>
              <a:t>6 10</a:t>
            </a:r>
            <a:endParaRPr lang="en-US" altLang="en-US" dirty="0"/>
          </a:p>
          <a:p>
            <a:r>
              <a:rPr lang="en-US" altLang="en-US" dirty="0"/>
              <a:t>1 2 6</a:t>
            </a:r>
            <a:endParaRPr lang="en-US" altLang="en-US" dirty="0"/>
          </a:p>
          <a:p>
            <a:r>
              <a:rPr lang="en-US" altLang="en-US" dirty="0"/>
              <a:t>1 3 1</a:t>
            </a:r>
            <a:endParaRPr lang="en-US" altLang="en-US" dirty="0"/>
          </a:p>
          <a:p>
            <a:r>
              <a:rPr lang="en-US" altLang="en-US" dirty="0"/>
              <a:t>1 4 4</a:t>
            </a:r>
            <a:endParaRPr lang="en-US" altLang="en-US" dirty="0"/>
          </a:p>
          <a:p>
            <a:r>
              <a:rPr lang="en-US" altLang="en-US" dirty="0"/>
              <a:t>2 3 5</a:t>
            </a:r>
            <a:endParaRPr lang="en-US" altLang="en-US" dirty="0"/>
          </a:p>
          <a:p>
            <a:r>
              <a:rPr lang="en-US" altLang="en-US" dirty="0"/>
              <a:t>2 5 3</a:t>
            </a:r>
            <a:endParaRPr lang="en-US" altLang="en-US" dirty="0"/>
          </a:p>
          <a:p>
            <a:r>
              <a:rPr lang="en-US" altLang="en-US" dirty="0"/>
              <a:t>3 4 4</a:t>
            </a:r>
            <a:endParaRPr lang="en-US" altLang="en-US" dirty="0"/>
          </a:p>
          <a:p>
            <a:r>
              <a:rPr lang="en-US" altLang="en-US" dirty="0"/>
              <a:t>3 6 3</a:t>
            </a:r>
            <a:endParaRPr lang="en-US" altLang="en-US" dirty="0"/>
          </a:p>
          <a:p>
            <a:r>
              <a:rPr lang="en-US" altLang="en-US" dirty="0"/>
              <a:t>3 5 6</a:t>
            </a:r>
            <a:endParaRPr lang="en-US" altLang="en-US" dirty="0"/>
          </a:p>
          <a:p>
            <a:r>
              <a:rPr lang="en-US" altLang="en-US" dirty="0"/>
              <a:t>5 6 6</a:t>
            </a:r>
            <a:endParaRPr lang="en-US" altLang="en-US" dirty="0"/>
          </a:p>
          <a:p>
            <a:r>
              <a:rPr lang="en-US" altLang="en-US" dirty="0"/>
              <a:t>4 6 2</a:t>
            </a:r>
            <a:endParaRPr lang="en-US" altLang="en-US" dirty="0"/>
          </a:p>
        </p:txBody>
      </p:sp>
      <p:sp>
        <p:nvSpPr>
          <p:cNvPr id="7" name="矩形 6"/>
          <p:cNvSpPr/>
          <p:nvPr/>
        </p:nvSpPr>
        <p:spPr>
          <a:xfrm>
            <a:off x="8569569" y="3543191"/>
            <a:ext cx="14888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输出样例：</a:t>
            </a:r>
            <a:endParaRPr lang="en-US" altLang="zh-CN" dirty="0"/>
          </a:p>
          <a:p>
            <a:r>
              <a:rPr lang="en-US" altLang="zh-CN" dirty="0"/>
              <a:t>14</a:t>
            </a:r>
            <a:endParaRPr lang="en-US" altLang="zh-CN" dirty="0"/>
          </a:p>
        </p:txBody>
      </p:sp>
      <p:grpSp>
        <p:nvGrpSpPr>
          <p:cNvPr id="8" name="Group 12"/>
          <p:cNvGrpSpPr/>
          <p:nvPr/>
        </p:nvGrpSpPr>
        <p:grpSpPr bwMode="auto">
          <a:xfrm>
            <a:off x="8160483" y="4129378"/>
            <a:ext cx="2868612" cy="2544763"/>
            <a:chOff x="780" y="355"/>
            <a:chExt cx="1807" cy="1603"/>
          </a:xfrm>
        </p:grpSpPr>
        <p:sp>
          <p:nvSpPr>
            <p:cNvPr id="10" name="Oval 14"/>
            <p:cNvSpPr>
              <a:spLocks noChangeArrowheads="1"/>
            </p:cNvSpPr>
            <p:nvPr/>
          </p:nvSpPr>
          <p:spPr bwMode="auto">
            <a:xfrm>
              <a:off x="1550" y="355"/>
              <a:ext cx="222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Oval 15"/>
            <p:cNvSpPr>
              <a:spLocks noChangeArrowheads="1"/>
            </p:cNvSpPr>
            <p:nvPr/>
          </p:nvSpPr>
          <p:spPr bwMode="auto">
            <a:xfrm>
              <a:off x="2325" y="1747"/>
              <a:ext cx="222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Oval 16"/>
            <p:cNvSpPr>
              <a:spLocks noChangeArrowheads="1"/>
            </p:cNvSpPr>
            <p:nvPr/>
          </p:nvSpPr>
          <p:spPr bwMode="auto">
            <a:xfrm>
              <a:off x="831" y="1747"/>
              <a:ext cx="222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Oval 17"/>
            <p:cNvSpPr>
              <a:spLocks noChangeArrowheads="1"/>
            </p:cNvSpPr>
            <p:nvPr/>
          </p:nvSpPr>
          <p:spPr bwMode="auto">
            <a:xfrm>
              <a:off x="2325" y="832"/>
              <a:ext cx="222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Oval 18"/>
            <p:cNvSpPr>
              <a:spLocks noChangeArrowheads="1"/>
            </p:cNvSpPr>
            <p:nvPr/>
          </p:nvSpPr>
          <p:spPr bwMode="auto">
            <a:xfrm>
              <a:off x="1546" y="1162"/>
              <a:ext cx="222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Oval 19"/>
            <p:cNvSpPr>
              <a:spLocks noChangeArrowheads="1"/>
            </p:cNvSpPr>
            <p:nvPr/>
          </p:nvSpPr>
          <p:spPr bwMode="auto">
            <a:xfrm>
              <a:off x="831" y="832"/>
              <a:ext cx="222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20"/>
            <p:cNvSpPr>
              <a:spLocks noChangeShapeType="1"/>
            </p:cNvSpPr>
            <p:nvPr/>
          </p:nvSpPr>
          <p:spPr bwMode="auto">
            <a:xfrm>
              <a:off x="1656" y="567"/>
              <a:ext cx="0" cy="5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21"/>
            <p:cNvSpPr>
              <a:spLocks noChangeShapeType="1"/>
            </p:cNvSpPr>
            <p:nvPr/>
          </p:nvSpPr>
          <p:spPr bwMode="auto">
            <a:xfrm flipH="1">
              <a:off x="1045" y="511"/>
              <a:ext cx="533" cy="3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22"/>
            <p:cNvSpPr>
              <a:spLocks noChangeShapeType="1"/>
            </p:cNvSpPr>
            <p:nvPr/>
          </p:nvSpPr>
          <p:spPr bwMode="auto">
            <a:xfrm>
              <a:off x="911" y="1056"/>
              <a:ext cx="0" cy="6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Line 23"/>
            <p:cNvSpPr>
              <a:spLocks noChangeShapeType="1"/>
            </p:cNvSpPr>
            <p:nvPr/>
          </p:nvSpPr>
          <p:spPr bwMode="auto">
            <a:xfrm flipH="1">
              <a:off x="2422" y="1056"/>
              <a:ext cx="0" cy="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24"/>
            <p:cNvSpPr>
              <a:spLocks noChangeShapeType="1"/>
            </p:cNvSpPr>
            <p:nvPr/>
          </p:nvSpPr>
          <p:spPr bwMode="auto">
            <a:xfrm>
              <a:off x="1045" y="1867"/>
              <a:ext cx="1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25"/>
            <p:cNvSpPr>
              <a:spLocks noChangeShapeType="1"/>
            </p:cNvSpPr>
            <p:nvPr/>
          </p:nvSpPr>
          <p:spPr bwMode="auto">
            <a:xfrm>
              <a:off x="1756" y="489"/>
              <a:ext cx="611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26"/>
            <p:cNvSpPr>
              <a:spLocks noChangeShapeType="1"/>
            </p:cNvSpPr>
            <p:nvPr/>
          </p:nvSpPr>
          <p:spPr bwMode="auto">
            <a:xfrm>
              <a:off x="1033" y="1011"/>
              <a:ext cx="512" cy="2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27"/>
            <p:cNvSpPr>
              <a:spLocks noChangeShapeType="1"/>
            </p:cNvSpPr>
            <p:nvPr/>
          </p:nvSpPr>
          <p:spPr bwMode="auto">
            <a:xfrm flipH="1">
              <a:off x="1746" y="1000"/>
              <a:ext cx="588" cy="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28"/>
            <p:cNvSpPr>
              <a:spLocks noChangeShapeType="1"/>
            </p:cNvSpPr>
            <p:nvPr/>
          </p:nvSpPr>
          <p:spPr bwMode="auto">
            <a:xfrm flipH="1">
              <a:off x="1022" y="1344"/>
              <a:ext cx="556" cy="4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29"/>
            <p:cNvSpPr>
              <a:spLocks noChangeShapeType="1"/>
            </p:cNvSpPr>
            <p:nvPr/>
          </p:nvSpPr>
          <p:spPr bwMode="auto">
            <a:xfrm>
              <a:off x="1722" y="1366"/>
              <a:ext cx="623" cy="4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Text Box 30"/>
            <p:cNvSpPr txBox="1">
              <a:spLocks noChangeArrowheads="1"/>
            </p:cNvSpPr>
            <p:nvPr/>
          </p:nvSpPr>
          <p:spPr bwMode="auto">
            <a:xfrm>
              <a:off x="1169" y="519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Text Box 31"/>
            <p:cNvSpPr txBox="1">
              <a:spLocks noChangeArrowheads="1"/>
            </p:cNvSpPr>
            <p:nvPr/>
          </p:nvSpPr>
          <p:spPr bwMode="auto">
            <a:xfrm>
              <a:off x="1958" y="4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Text Box 32"/>
            <p:cNvSpPr txBox="1">
              <a:spLocks noChangeArrowheads="1"/>
            </p:cNvSpPr>
            <p:nvPr/>
          </p:nvSpPr>
          <p:spPr bwMode="auto">
            <a:xfrm>
              <a:off x="1502" y="75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 Box 33"/>
            <p:cNvSpPr txBox="1">
              <a:spLocks noChangeArrowheads="1"/>
            </p:cNvSpPr>
            <p:nvPr/>
          </p:nvSpPr>
          <p:spPr bwMode="auto">
            <a:xfrm>
              <a:off x="780" y="128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Text Box 34"/>
            <p:cNvSpPr txBox="1">
              <a:spLocks noChangeArrowheads="1"/>
            </p:cNvSpPr>
            <p:nvPr/>
          </p:nvSpPr>
          <p:spPr bwMode="auto">
            <a:xfrm>
              <a:off x="1169" y="93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Text Box 35"/>
            <p:cNvSpPr txBox="1">
              <a:spLocks noChangeArrowheads="1"/>
            </p:cNvSpPr>
            <p:nvPr/>
          </p:nvSpPr>
          <p:spPr bwMode="auto">
            <a:xfrm>
              <a:off x="1158" y="139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Text Box 36"/>
            <p:cNvSpPr txBox="1">
              <a:spLocks noChangeArrowheads="1"/>
            </p:cNvSpPr>
            <p:nvPr/>
          </p:nvSpPr>
          <p:spPr bwMode="auto">
            <a:xfrm>
              <a:off x="1525" y="16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Text Box 37"/>
            <p:cNvSpPr txBox="1">
              <a:spLocks noChangeArrowheads="1"/>
            </p:cNvSpPr>
            <p:nvPr/>
          </p:nvSpPr>
          <p:spPr bwMode="auto">
            <a:xfrm>
              <a:off x="1947" y="138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Text Box 38"/>
            <p:cNvSpPr txBox="1">
              <a:spLocks noChangeArrowheads="1"/>
            </p:cNvSpPr>
            <p:nvPr/>
          </p:nvSpPr>
          <p:spPr bwMode="auto">
            <a:xfrm>
              <a:off x="2391" y="129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Text Box 39"/>
            <p:cNvSpPr txBox="1">
              <a:spLocks noChangeArrowheads="1"/>
            </p:cNvSpPr>
            <p:nvPr/>
          </p:nvSpPr>
          <p:spPr bwMode="auto">
            <a:xfrm>
              <a:off x="1936" y="93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741269" cy="1325563"/>
          </a:xfrm>
        </p:spPr>
        <p:txBody>
          <a:bodyPr/>
          <a:lstStyle/>
          <a:p>
            <a:r>
              <a:rPr lang="en-US" altLang="en-US" dirty="0"/>
              <a:t>Homework 3 </a:t>
            </a:r>
            <a:r>
              <a:rPr lang="zh-CN" altLang="en-US" dirty="0"/>
              <a:t>生成树的</a:t>
            </a:r>
            <a:r>
              <a:rPr lang="en-US" altLang="zh-CN" dirty="0"/>
              <a:t>Kruskal</a:t>
            </a:r>
            <a:r>
              <a:rPr lang="zh-CN" altLang="en-US" dirty="0"/>
              <a:t>算法（</a:t>
            </a:r>
            <a:r>
              <a:rPr lang="en-US" altLang="zh-CN" dirty="0"/>
              <a:t>mst.cpp)</a:t>
            </a:r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输入具有</a:t>
            </a:r>
            <a:r>
              <a:rPr lang="en-US" altLang="zh-CN" dirty="0"/>
              <a:t>n </a:t>
            </a:r>
            <a:r>
              <a:rPr lang="zh-CN" altLang="en-US" dirty="0"/>
              <a:t>个顶点</a:t>
            </a:r>
            <a:r>
              <a:rPr lang="en-US" altLang="zh-CN" dirty="0"/>
              <a:t>m</a:t>
            </a:r>
            <a:r>
              <a:rPr lang="zh-CN" altLang="en-US" dirty="0"/>
              <a:t>条边的无向图</a:t>
            </a:r>
            <a:r>
              <a:rPr lang="en-US" altLang="zh-CN" dirty="0"/>
              <a:t>G</a:t>
            </a:r>
            <a:r>
              <a:rPr lang="zh-CN" altLang="en-US" dirty="0"/>
              <a:t> （顶点从</a:t>
            </a:r>
            <a:r>
              <a:rPr lang="en-US" altLang="zh-CN" dirty="0"/>
              <a:t>1~n </a:t>
            </a:r>
            <a:r>
              <a:rPr lang="zh-CN" altLang="en-US" dirty="0"/>
              <a:t>编号）。</a:t>
            </a:r>
            <a:br>
              <a:rPr lang="en-US" altLang="zh-CN" dirty="0"/>
            </a:br>
            <a:r>
              <a:rPr lang="zh-CN" altLang="en-US" dirty="0"/>
              <a:t>请用</a:t>
            </a:r>
            <a:r>
              <a:rPr lang="en-US" altLang="zh-CN" b="1" dirty="0"/>
              <a:t>Kruskal</a:t>
            </a:r>
            <a:r>
              <a:rPr lang="zh-CN" altLang="en-US" b="1" dirty="0"/>
              <a:t>算法</a:t>
            </a:r>
            <a:r>
              <a:rPr lang="zh-CN" altLang="en-US" dirty="0"/>
              <a:t>求出</a:t>
            </a:r>
            <a:r>
              <a:rPr lang="en-US" altLang="zh-CN" dirty="0"/>
              <a:t>G</a:t>
            </a:r>
            <a:r>
              <a:rPr lang="zh-CN" altLang="en-US" dirty="0"/>
              <a:t>的最小生成树 </a:t>
            </a:r>
            <a:r>
              <a:rPr lang="en-US" altLang="zh-CN" dirty="0"/>
              <a:t>(minimum spanning tree)</a:t>
            </a:r>
            <a:endParaRPr lang="en-US" altLang="zh-CN" dirty="0"/>
          </a:p>
          <a:p>
            <a:pPr lvl="1"/>
            <a:r>
              <a:rPr lang="zh-CN" altLang="en-US" dirty="0"/>
              <a:t>保证：</a:t>
            </a:r>
            <a:r>
              <a:rPr lang="en-US" altLang="en-US" dirty="0">
                <a:solidFill>
                  <a:srgbClr val="FF0000"/>
                </a:solidFill>
              </a:rPr>
              <a:t>n&lt;=100000. m&lt;=500000</a:t>
            </a:r>
            <a:r>
              <a:rPr lang="en-US" altLang="en-US" dirty="0"/>
              <a:t>。 </a:t>
            </a:r>
            <a:r>
              <a:rPr lang="en-US" altLang="zh-CN" dirty="0"/>
              <a:t>G </a:t>
            </a:r>
            <a:r>
              <a:rPr lang="zh-CN" altLang="en-US" dirty="0"/>
              <a:t>连通且任意两点间最多只有一条边。</a:t>
            </a:r>
            <a:br>
              <a:rPr lang="en-US" altLang="zh-CN" dirty="0"/>
            </a:br>
            <a:r>
              <a:rPr lang="zh-CN" altLang="en-US" dirty="0"/>
              <a:t>要求：用并查集实现。并使用路径压缩和</a:t>
            </a:r>
            <a:r>
              <a:rPr lang="en-US" altLang="zh-CN" dirty="0"/>
              <a:t>link by rank</a:t>
            </a:r>
            <a:r>
              <a:rPr lang="zh-CN" altLang="en-US" dirty="0"/>
              <a:t>技术。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输入格式：</a:t>
            </a:r>
            <a:endParaRPr lang="en-US" altLang="zh-CN" dirty="0"/>
          </a:p>
          <a:p>
            <a:pPr marL="0" indent="0">
              <a:buNone/>
            </a:pPr>
            <a:r>
              <a:rPr lang="en-US" altLang="en-US" dirty="0"/>
              <a:t>n m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a[1] b[1] c[1]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...</a:t>
            </a: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a[m] b[m] c[m]</a:t>
            </a: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4" name="矩形 3"/>
          <p:cNvSpPr/>
          <p:nvPr/>
        </p:nvSpPr>
        <p:spPr>
          <a:xfrm>
            <a:off x="3390229" y="4990170"/>
            <a:ext cx="333521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说明： 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a[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 b[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 c[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表示</a:t>
            </a:r>
            <a:b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有一条边</a:t>
            </a: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a[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],b[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])，</a:t>
            </a:r>
            <a:endParaRPr lang="en-US" alt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它的费用为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c[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]。</a:t>
            </a:r>
            <a:endParaRPr lang="en-US" alt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</a:rPr>
              <a:t>保证  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a[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 != b[</a:t>
            </a:r>
            <a:r>
              <a:rPr lang="en-US" altLang="en-US" sz="20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</a:rPr>
              <a:t>]。</a:t>
            </a:r>
            <a:endParaRPr lang="en-US" alt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en-US" sz="2000" dirty="0">
                <a:solidFill>
                  <a:srgbClr val="FF0000"/>
                </a:solidFill>
              </a:rPr>
              <a:t>  1&lt;=c[</a:t>
            </a:r>
            <a:r>
              <a:rPr lang="en-US" altLang="en-US" sz="2000" dirty="0" err="1">
                <a:solidFill>
                  <a:srgbClr val="FF0000"/>
                </a:solidFill>
              </a:rPr>
              <a:t>i</a:t>
            </a:r>
            <a:r>
              <a:rPr lang="en-US" altLang="en-US" sz="2000" dirty="0">
                <a:solidFill>
                  <a:srgbClr val="FF0000"/>
                </a:solidFill>
              </a:rPr>
              <a:t>]&lt;=10000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329354" y="3436881"/>
            <a:ext cx="333521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输出格式：</a:t>
            </a:r>
            <a:endParaRPr lang="en-US" altLang="zh-CN" sz="2800" dirty="0"/>
          </a:p>
          <a:p>
            <a:r>
              <a:rPr lang="en-US" altLang="en-US" sz="2800" dirty="0"/>
              <a:t>1</a:t>
            </a:r>
            <a:r>
              <a:rPr lang="zh-CN" altLang="en-US" sz="2800" dirty="0"/>
              <a:t>个整数，表示</a:t>
            </a:r>
            <a:br>
              <a:rPr lang="en-US" altLang="zh-CN" sz="2800" dirty="0"/>
            </a:br>
            <a:r>
              <a:rPr lang="zh-CN" altLang="en-US" sz="2800" dirty="0"/>
              <a:t>最小生成树的费用</a:t>
            </a:r>
            <a:endParaRPr lang="en-US" altLang="en-US" sz="2800" dirty="0"/>
          </a:p>
        </p:txBody>
      </p:sp>
      <p:sp>
        <p:nvSpPr>
          <p:cNvPr id="6" name="矩形 5"/>
          <p:cNvSpPr/>
          <p:nvPr/>
        </p:nvSpPr>
        <p:spPr>
          <a:xfrm>
            <a:off x="6503376" y="3349760"/>
            <a:ext cx="148883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输入样例：</a:t>
            </a:r>
            <a:endParaRPr lang="en-US" altLang="zh-CN" dirty="0"/>
          </a:p>
          <a:p>
            <a:r>
              <a:rPr lang="en-US" altLang="en-US" dirty="0"/>
              <a:t>6 10</a:t>
            </a:r>
            <a:endParaRPr lang="en-US" altLang="en-US" dirty="0"/>
          </a:p>
          <a:p>
            <a:r>
              <a:rPr lang="en-US" altLang="en-US" dirty="0"/>
              <a:t>1 2 6</a:t>
            </a:r>
            <a:endParaRPr lang="en-US" altLang="en-US" dirty="0"/>
          </a:p>
          <a:p>
            <a:r>
              <a:rPr lang="en-US" altLang="en-US" dirty="0"/>
              <a:t>1 3 1</a:t>
            </a:r>
            <a:endParaRPr lang="en-US" altLang="en-US" dirty="0"/>
          </a:p>
          <a:p>
            <a:r>
              <a:rPr lang="en-US" altLang="en-US" dirty="0"/>
              <a:t>1 4 4</a:t>
            </a:r>
            <a:endParaRPr lang="en-US" altLang="en-US" dirty="0"/>
          </a:p>
          <a:p>
            <a:r>
              <a:rPr lang="en-US" altLang="en-US" dirty="0"/>
              <a:t>2 3 5</a:t>
            </a:r>
            <a:endParaRPr lang="en-US" altLang="en-US" dirty="0"/>
          </a:p>
          <a:p>
            <a:r>
              <a:rPr lang="en-US" altLang="en-US" dirty="0"/>
              <a:t>2 5 3</a:t>
            </a:r>
            <a:endParaRPr lang="en-US" altLang="en-US" dirty="0"/>
          </a:p>
          <a:p>
            <a:r>
              <a:rPr lang="en-US" altLang="en-US" dirty="0"/>
              <a:t>3 4 4</a:t>
            </a:r>
            <a:endParaRPr lang="en-US" altLang="en-US" dirty="0"/>
          </a:p>
          <a:p>
            <a:r>
              <a:rPr lang="en-US" altLang="en-US" dirty="0"/>
              <a:t>3 6 3</a:t>
            </a:r>
            <a:endParaRPr lang="en-US" altLang="en-US" dirty="0"/>
          </a:p>
          <a:p>
            <a:r>
              <a:rPr lang="en-US" altLang="en-US" dirty="0"/>
              <a:t>3 5 6</a:t>
            </a:r>
            <a:endParaRPr lang="en-US" altLang="en-US" dirty="0"/>
          </a:p>
          <a:p>
            <a:r>
              <a:rPr lang="en-US" altLang="en-US" dirty="0"/>
              <a:t>5 6 6</a:t>
            </a:r>
            <a:endParaRPr lang="en-US" altLang="en-US" dirty="0"/>
          </a:p>
          <a:p>
            <a:r>
              <a:rPr lang="en-US" altLang="en-US" dirty="0"/>
              <a:t>4 6 2</a:t>
            </a:r>
            <a:endParaRPr lang="en-US" altLang="en-US" dirty="0"/>
          </a:p>
        </p:txBody>
      </p:sp>
      <p:sp>
        <p:nvSpPr>
          <p:cNvPr id="7" name="矩形 6"/>
          <p:cNvSpPr/>
          <p:nvPr/>
        </p:nvSpPr>
        <p:spPr>
          <a:xfrm>
            <a:off x="8569569" y="3543191"/>
            <a:ext cx="14888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输出样例：</a:t>
            </a:r>
            <a:endParaRPr lang="en-US" altLang="zh-CN" dirty="0"/>
          </a:p>
          <a:p>
            <a:r>
              <a:rPr lang="en-US" altLang="zh-CN" dirty="0"/>
              <a:t>14</a:t>
            </a:r>
            <a:endParaRPr lang="en-US" altLang="zh-CN" dirty="0"/>
          </a:p>
        </p:txBody>
      </p:sp>
      <p:grpSp>
        <p:nvGrpSpPr>
          <p:cNvPr id="8" name="Group 12"/>
          <p:cNvGrpSpPr/>
          <p:nvPr/>
        </p:nvGrpSpPr>
        <p:grpSpPr bwMode="auto">
          <a:xfrm>
            <a:off x="8160483" y="4129378"/>
            <a:ext cx="2868612" cy="2544763"/>
            <a:chOff x="780" y="355"/>
            <a:chExt cx="1807" cy="1603"/>
          </a:xfrm>
        </p:grpSpPr>
        <p:sp>
          <p:nvSpPr>
            <p:cNvPr id="10" name="Oval 14"/>
            <p:cNvSpPr>
              <a:spLocks noChangeArrowheads="1"/>
            </p:cNvSpPr>
            <p:nvPr/>
          </p:nvSpPr>
          <p:spPr bwMode="auto">
            <a:xfrm>
              <a:off x="1550" y="355"/>
              <a:ext cx="222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Oval 15"/>
            <p:cNvSpPr>
              <a:spLocks noChangeArrowheads="1"/>
            </p:cNvSpPr>
            <p:nvPr/>
          </p:nvSpPr>
          <p:spPr bwMode="auto">
            <a:xfrm>
              <a:off x="2325" y="1747"/>
              <a:ext cx="222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Oval 16"/>
            <p:cNvSpPr>
              <a:spLocks noChangeArrowheads="1"/>
            </p:cNvSpPr>
            <p:nvPr/>
          </p:nvSpPr>
          <p:spPr bwMode="auto">
            <a:xfrm>
              <a:off x="831" y="1747"/>
              <a:ext cx="222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" name="Oval 17"/>
            <p:cNvSpPr>
              <a:spLocks noChangeArrowheads="1"/>
            </p:cNvSpPr>
            <p:nvPr/>
          </p:nvSpPr>
          <p:spPr bwMode="auto">
            <a:xfrm>
              <a:off x="2325" y="832"/>
              <a:ext cx="222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" name="Oval 18"/>
            <p:cNvSpPr>
              <a:spLocks noChangeArrowheads="1"/>
            </p:cNvSpPr>
            <p:nvPr/>
          </p:nvSpPr>
          <p:spPr bwMode="auto">
            <a:xfrm>
              <a:off x="1546" y="1162"/>
              <a:ext cx="222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Oval 19"/>
            <p:cNvSpPr>
              <a:spLocks noChangeArrowheads="1"/>
            </p:cNvSpPr>
            <p:nvPr/>
          </p:nvSpPr>
          <p:spPr bwMode="auto">
            <a:xfrm>
              <a:off x="831" y="832"/>
              <a:ext cx="222" cy="21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Line 20"/>
            <p:cNvSpPr>
              <a:spLocks noChangeShapeType="1"/>
            </p:cNvSpPr>
            <p:nvPr/>
          </p:nvSpPr>
          <p:spPr bwMode="auto">
            <a:xfrm>
              <a:off x="1656" y="567"/>
              <a:ext cx="0" cy="5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Line 21"/>
            <p:cNvSpPr>
              <a:spLocks noChangeShapeType="1"/>
            </p:cNvSpPr>
            <p:nvPr/>
          </p:nvSpPr>
          <p:spPr bwMode="auto">
            <a:xfrm flipH="1">
              <a:off x="1045" y="511"/>
              <a:ext cx="533" cy="3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Line 22"/>
            <p:cNvSpPr>
              <a:spLocks noChangeShapeType="1"/>
            </p:cNvSpPr>
            <p:nvPr/>
          </p:nvSpPr>
          <p:spPr bwMode="auto">
            <a:xfrm>
              <a:off x="911" y="1056"/>
              <a:ext cx="0" cy="6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Line 23"/>
            <p:cNvSpPr>
              <a:spLocks noChangeShapeType="1"/>
            </p:cNvSpPr>
            <p:nvPr/>
          </p:nvSpPr>
          <p:spPr bwMode="auto">
            <a:xfrm flipH="1">
              <a:off x="2422" y="1056"/>
              <a:ext cx="0" cy="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Line 24"/>
            <p:cNvSpPr>
              <a:spLocks noChangeShapeType="1"/>
            </p:cNvSpPr>
            <p:nvPr/>
          </p:nvSpPr>
          <p:spPr bwMode="auto">
            <a:xfrm>
              <a:off x="1045" y="1867"/>
              <a:ext cx="12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Line 25"/>
            <p:cNvSpPr>
              <a:spLocks noChangeShapeType="1"/>
            </p:cNvSpPr>
            <p:nvPr/>
          </p:nvSpPr>
          <p:spPr bwMode="auto">
            <a:xfrm>
              <a:off x="1756" y="489"/>
              <a:ext cx="611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26"/>
            <p:cNvSpPr>
              <a:spLocks noChangeShapeType="1"/>
            </p:cNvSpPr>
            <p:nvPr/>
          </p:nvSpPr>
          <p:spPr bwMode="auto">
            <a:xfrm>
              <a:off x="1033" y="1011"/>
              <a:ext cx="512" cy="2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27"/>
            <p:cNvSpPr>
              <a:spLocks noChangeShapeType="1"/>
            </p:cNvSpPr>
            <p:nvPr/>
          </p:nvSpPr>
          <p:spPr bwMode="auto">
            <a:xfrm flipH="1">
              <a:off x="1746" y="1000"/>
              <a:ext cx="588" cy="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" name="Line 28"/>
            <p:cNvSpPr>
              <a:spLocks noChangeShapeType="1"/>
            </p:cNvSpPr>
            <p:nvPr/>
          </p:nvSpPr>
          <p:spPr bwMode="auto">
            <a:xfrm flipH="1">
              <a:off x="1022" y="1344"/>
              <a:ext cx="556" cy="4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Line 29"/>
            <p:cNvSpPr>
              <a:spLocks noChangeShapeType="1"/>
            </p:cNvSpPr>
            <p:nvPr/>
          </p:nvSpPr>
          <p:spPr bwMode="auto">
            <a:xfrm>
              <a:off x="1722" y="1366"/>
              <a:ext cx="623" cy="4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en-US" sz="20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Text Box 30"/>
            <p:cNvSpPr txBox="1">
              <a:spLocks noChangeArrowheads="1"/>
            </p:cNvSpPr>
            <p:nvPr/>
          </p:nvSpPr>
          <p:spPr bwMode="auto">
            <a:xfrm>
              <a:off x="1169" y="519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Text Box 31"/>
            <p:cNvSpPr txBox="1">
              <a:spLocks noChangeArrowheads="1"/>
            </p:cNvSpPr>
            <p:nvPr/>
          </p:nvSpPr>
          <p:spPr bwMode="auto">
            <a:xfrm>
              <a:off x="1958" y="44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Text Box 32"/>
            <p:cNvSpPr txBox="1">
              <a:spLocks noChangeArrowheads="1"/>
            </p:cNvSpPr>
            <p:nvPr/>
          </p:nvSpPr>
          <p:spPr bwMode="auto">
            <a:xfrm>
              <a:off x="1502" y="753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 Box 33"/>
            <p:cNvSpPr txBox="1">
              <a:spLocks noChangeArrowheads="1"/>
            </p:cNvSpPr>
            <p:nvPr/>
          </p:nvSpPr>
          <p:spPr bwMode="auto">
            <a:xfrm>
              <a:off x="780" y="128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" name="Text Box 34"/>
            <p:cNvSpPr txBox="1">
              <a:spLocks noChangeArrowheads="1"/>
            </p:cNvSpPr>
            <p:nvPr/>
          </p:nvSpPr>
          <p:spPr bwMode="auto">
            <a:xfrm>
              <a:off x="1169" y="93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" name="Text Box 35"/>
            <p:cNvSpPr txBox="1">
              <a:spLocks noChangeArrowheads="1"/>
            </p:cNvSpPr>
            <p:nvPr/>
          </p:nvSpPr>
          <p:spPr bwMode="auto">
            <a:xfrm>
              <a:off x="1158" y="139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Text Box 36"/>
            <p:cNvSpPr txBox="1">
              <a:spLocks noChangeArrowheads="1"/>
            </p:cNvSpPr>
            <p:nvPr/>
          </p:nvSpPr>
          <p:spPr bwMode="auto">
            <a:xfrm>
              <a:off x="1525" y="1652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6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" name="Text Box 37"/>
            <p:cNvSpPr txBox="1">
              <a:spLocks noChangeArrowheads="1"/>
            </p:cNvSpPr>
            <p:nvPr/>
          </p:nvSpPr>
          <p:spPr bwMode="auto">
            <a:xfrm>
              <a:off x="1947" y="1386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" name="Text Box 38"/>
            <p:cNvSpPr txBox="1">
              <a:spLocks noChangeArrowheads="1"/>
            </p:cNvSpPr>
            <p:nvPr/>
          </p:nvSpPr>
          <p:spPr bwMode="auto">
            <a:xfrm>
              <a:off x="2391" y="1297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5" name="Text Box 39"/>
            <p:cNvSpPr txBox="1">
              <a:spLocks noChangeArrowheads="1"/>
            </p:cNvSpPr>
            <p:nvPr/>
          </p:nvSpPr>
          <p:spPr bwMode="auto">
            <a:xfrm>
              <a:off x="1936" y="930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§"/>
                <a:defRPr kumimoji="1" sz="32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6699FF"/>
                </a:buClr>
                <a:buFont typeface="Wingdings" panose="05000000000000000000" pitchFamily="2" charset="2"/>
                <a:buChar char="«"/>
                <a:defRPr kumimoji="1" sz="28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9900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Font typeface="Wingdings" panose="05000000000000000000" pitchFamily="2" charset="2"/>
                <a:buChar char="u"/>
                <a:defRPr kumimoji="1" sz="2000">
                  <a:solidFill>
                    <a:schemeClr val="tx1"/>
                  </a:solidFill>
                  <a:latin typeface="Arial" panose="020B0604020202020204" pitchFamily="34" charset="0"/>
                  <a:ea typeface="隶书" panose="02010509060101010101" pitchFamily="49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9933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9933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ZGE1ODU3MzJmOGU3YzcyMTUwODI2N2QwMzRkMDczNj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1411</Words>
  <Application>WPS 演示</Application>
  <PresentationFormat>宽屏</PresentationFormat>
  <Paragraphs>175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隶书</vt:lpstr>
      <vt:lpstr>Times New Roman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Homework 1 	寻找生成森林(spanforest.cpp)</vt:lpstr>
      <vt:lpstr>Homework 2 生成树的Kruskal算法(Kruskal.cpp)</vt:lpstr>
      <vt:lpstr>Homework 3 生成树的Kruskal算法（mst.cpp)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heaven</dc:creator>
  <cp:lastModifiedBy>chenh</cp:lastModifiedBy>
  <cp:revision>5</cp:revision>
  <dcterms:created xsi:type="dcterms:W3CDTF">2023-11-30T10:30:00Z</dcterms:created>
  <dcterms:modified xsi:type="dcterms:W3CDTF">2023-12-04T11:17:16Z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8CD6A8DCE99947D1A0216E3388CBA4A1_12</vt:lpwstr>
  </property>
  <property fmtid="{D5CDD505-2E9C-101B-9397-08002B2CF9AE}" pid="3" name="KSOProductBuildVer">
    <vt:lpwstr>2052-12.1.0.15990</vt:lpwstr>
  </property>
</Properties>
</file>